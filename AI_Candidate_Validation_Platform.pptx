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5526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5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hyperlink" Target="https://cvpstorage2026.blob.core.windows.net/candidate-reports/report-ZR_1_CAND-20260828080635.html?se=2026-08-29T08%3A06%3A35Z&amp;sp=r&amp;sv=2026-06-06&amp;sr=b&amp;sig=Uzv4l0Z9JBQNyKbxcaSZf9usFJPcgTI5xy7Jlewqn3A%3D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hyperlink" Target="https://candidatevalidationui26.z29.web.core.windows.net/" TargetMode="External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36576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Candidate Validation Platform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VALIDATION 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Candidate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Platform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Resume Verification, Cross-Source Fraud Detection &amp; Evidence-Backed Candidate Scoring — built end-to-end and demoed live.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4348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45994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5271A"/>
          </a:solidFill>
          <a:ln/>
        </p:spPr>
      </p:sp>
      <p:pic>
        <p:nvPicPr>
          <p:cNvPr id="11" name="Image 0" descr="/home/claude/icons/users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709160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70432" y="44348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44348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10712" y="45994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5271A"/>
          </a:solidFill>
          <a:ln/>
        </p:spPr>
      </p:sp>
      <p:pic>
        <p:nvPicPr>
          <p:cNvPr id="15" name="Image 1" descr="/home/claude/icons/task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470916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59352" y="44348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Validation Modules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35040" y="44348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99632" y="45994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5271A"/>
          </a:solidFill>
          <a:ln/>
        </p:spPr>
      </p:sp>
      <p:pic>
        <p:nvPicPr>
          <p:cNvPr id="19" name="Image 2" descr="/home/claude/icons/bol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709160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44348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Scoring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823960" y="443484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988552" y="45994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5271A"/>
          </a:solidFill>
          <a:ln/>
        </p:spPr>
      </p:sp>
      <p:pic>
        <p:nvPicPr>
          <p:cNvPr id="23" name="Image 3" descr="/home/claude/icons/shield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0" y="4709160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37192" y="44348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5623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Piruthvin</a:t>
            </a:r>
            <a:r>
              <a:rPr lang="en-US" sz="11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</a:t>
            </a:r>
            <a:endParaRPr lang="en-US" sz="1100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E5F851E1-198F-7727-154C-D84857994ECA}"/>
              </a:ext>
            </a:extLst>
          </p:cNvPr>
          <p:cNvSpPr/>
          <p:nvPr/>
        </p:nvSpPr>
        <p:spPr>
          <a:xfrm>
            <a:off x="502920" y="502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3" name="Image 0" descr="logo.png">
            <a:extLst>
              <a:ext uri="{FF2B5EF4-FFF2-40B4-BE49-F238E27FC236}">
                <a16:creationId xmlns:a16="http://schemas.microsoft.com/office/drawing/2014/main" id="{6836D805-94C0-14E8-E535-6B3D951771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594360"/>
            <a:ext cx="996696" cy="1682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498080" y="36576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Candidate Validation Platform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089986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Problem, and Our Solution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FCEBE9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17627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9" name="Image 0" descr="/home/claude/icons/exclaim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2296973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1762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in Hiring Today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5800" y="278892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resumes &amp; exaggerated skills routinely go undetected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verification takes 2-4 hours per candidate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Resume, ATS, LinkedIn &amp; company data live in silos — never cross-checked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Inconsistent, subjective hiring decisions across recruiters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standardized fraud or risk scoring before interview stage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&amp; employment forgery is hard to catch manually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EAF2EC"/>
          </a:solidFill>
          <a:ln/>
        </p:spPr>
      </p:sp>
      <p:sp>
        <p:nvSpPr>
          <p:cNvPr id="13" name="Shape 10"/>
          <p:cNvSpPr/>
          <p:nvPr/>
        </p:nvSpPr>
        <p:spPr>
          <a:xfrm>
            <a:off x="6492240" y="217627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14" name="Image 1" descr="/home/claude/icons/brain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2296973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2176272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6492240" y="27432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AI system that cross-verifies every resume claim against LinkedIn, ATS, email/phone, and company records — then produces a scored, evidence-backed report automatically.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492240" y="352044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 + LLM reasoning, not black-box scoring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Cross-source validation across 6+ independent data points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executive summary &amp; interview questions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489204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1B1E24"/>
          </a:solidFill>
          <a:ln/>
        </p:spPr>
      </p:sp>
      <p:sp>
        <p:nvSpPr>
          <p:cNvPr id="19" name="Text 15"/>
          <p:cNvSpPr/>
          <p:nvPr/>
        </p:nvSpPr>
        <p:spPr>
          <a:xfrm>
            <a:off x="640080" y="489204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"Upload a resume → get a fraud-checked, scored validation report in under 2 minutes."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" y="5577840"/>
            <a:ext cx="2715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  </a:t>
            </a:r>
            <a:r>
              <a:rPr lang="en-US" sz="10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Screening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172968" y="5577840"/>
            <a:ext cx="2715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r>
              <a:rPr lang="en-US" sz="10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Modules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888736" y="5577840"/>
            <a:ext cx="2715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 min  </a:t>
            </a:r>
            <a:r>
              <a:rPr lang="en-US" sz="10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Turnaround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604504" y="5577840"/>
            <a:ext cx="27157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  </a:t>
            </a:r>
            <a:r>
              <a:rPr lang="en-US" sz="10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Cross-Checked Sources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Candidate Validation Platform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1895328D-2D2A-8C10-90F7-F10CEBB39ED8}"/>
              </a:ext>
            </a:extLst>
          </p:cNvPr>
          <p:cNvSpPr/>
          <p:nvPr/>
        </p:nvSpPr>
        <p:spPr>
          <a:xfrm>
            <a:off x="502920" y="502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9" name="Image 0" descr="logo.png">
            <a:extLst>
              <a:ext uri="{FF2B5EF4-FFF2-40B4-BE49-F238E27FC236}">
                <a16:creationId xmlns:a16="http://schemas.microsoft.com/office/drawing/2014/main" id="{2BCDAEF7-7488-B0C7-797B-1FFA42A07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594360"/>
            <a:ext cx="996696" cy="168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498080" y="36576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Candidate Validation Platform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Data 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Three-agent orchestration on top, full validation data pipeline below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43796" y="1965960"/>
            <a:ext cx="1313832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67028" y="210312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10" name="Image 0" descr="/home/claude/icons/users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923" y="2226015"/>
            <a:ext cx="266273" cy="26627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26243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9718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Initiates request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443862" y="1965960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4431401" y="1965960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6237768" y="2017716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6739834" y="2017716"/>
            <a:ext cx="1463167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243350" y="2154876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28" name="Image 3" descr="/home/claude/icons/shield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245" y="2277771"/>
            <a:ext cx="266273" cy="26627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33522" y="267608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333522" y="302355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all checks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8397824" y="2017716"/>
            <a:ext cx="320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8848124" y="2017716"/>
            <a:ext cx="1641599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437912" y="2154876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34" name="Image 4" descr="/home/claude/icons/fileal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0807" y="2277771"/>
            <a:ext cx="266273" cy="26627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528084" y="2676084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8528084" y="302355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HTML</a:t>
            </a:r>
            <a:endParaRPr lang="en-US" sz="850" dirty="0"/>
          </a:p>
        </p:txBody>
      </p:sp>
      <p:sp>
        <p:nvSpPr>
          <p:cNvPr id="37" name="Text 30"/>
          <p:cNvSpPr/>
          <p:nvPr/>
        </p:nvSpPr>
        <p:spPr>
          <a:xfrm>
            <a:off x="45720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Data Pipeline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457200" y="393192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CEBE9"/>
          </a:solidFill>
          <a:ln/>
        </p:spPr>
      </p:sp>
      <p:sp>
        <p:nvSpPr>
          <p:cNvPr id="39" name="Text 32"/>
          <p:cNvSpPr/>
          <p:nvPr/>
        </p:nvSpPr>
        <p:spPr>
          <a:xfrm>
            <a:off x="502920" y="393192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2084832" y="393192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CEBE9"/>
          </a:solidFill>
          <a:ln/>
        </p:spPr>
      </p:sp>
      <p:sp>
        <p:nvSpPr>
          <p:cNvPr id="41" name="Text 34"/>
          <p:cNvSpPr/>
          <p:nvPr/>
        </p:nvSpPr>
        <p:spPr>
          <a:xfrm>
            <a:off x="2130552" y="393192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950" dirty="0"/>
          </a:p>
        </p:txBody>
      </p:sp>
      <p:sp>
        <p:nvSpPr>
          <p:cNvPr id="42" name="Shape 35"/>
          <p:cNvSpPr/>
          <p:nvPr/>
        </p:nvSpPr>
        <p:spPr>
          <a:xfrm>
            <a:off x="3712464" y="393192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CEBE9"/>
          </a:solidFill>
          <a:ln/>
        </p:spPr>
      </p:sp>
      <p:sp>
        <p:nvSpPr>
          <p:cNvPr id="43" name="Text 36"/>
          <p:cNvSpPr/>
          <p:nvPr/>
        </p:nvSpPr>
        <p:spPr>
          <a:xfrm>
            <a:off x="3758184" y="393192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/ Email /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Checks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5340096" y="393192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CEBE9"/>
          </a:solidFill>
          <a:ln/>
        </p:spPr>
      </p:sp>
      <p:sp>
        <p:nvSpPr>
          <p:cNvPr id="45" name="Text 38"/>
          <p:cNvSpPr/>
          <p:nvPr/>
        </p:nvSpPr>
        <p:spPr>
          <a:xfrm>
            <a:off x="5385816" y="393192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Lookup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6967728" y="393192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CEBE9"/>
          </a:solidFill>
          <a:ln/>
        </p:spPr>
      </p:sp>
      <p:sp>
        <p:nvSpPr>
          <p:cNvPr id="47" name="Text 40"/>
          <p:cNvSpPr/>
          <p:nvPr/>
        </p:nvSpPr>
        <p:spPr>
          <a:xfrm>
            <a:off x="7013448" y="393192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(Edu/Exp/Skills)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8595360" y="393192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CEBE9"/>
          </a:solidFill>
          <a:ln/>
        </p:spPr>
      </p:sp>
      <p:sp>
        <p:nvSpPr>
          <p:cNvPr id="49" name="Text 42"/>
          <p:cNvSpPr/>
          <p:nvPr/>
        </p:nvSpPr>
        <p:spPr>
          <a:xfrm>
            <a:off x="8641080" y="393192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10222992" y="3931920"/>
            <a:ext cx="1572768" cy="868680"/>
          </a:xfrm>
          <a:prstGeom prst="roundRect">
            <a:avLst>
              <a:gd name="adj" fmla="val 6316"/>
            </a:avLst>
          </a:prstGeom>
          <a:solidFill>
            <a:srgbClr val="FCEBE9"/>
          </a:solidFill>
          <a:ln/>
        </p:spPr>
      </p:sp>
      <p:sp>
        <p:nvSpPr>
          <p:cNvPr id="51" name="Text 44"/>
          <p:cNvSpPr/>
          <p:nvPr/>
        </p:nvSpPr>
        <p:spPr>
          <a:xfrm>
            <a:off x="10268712" y="3931920"/>
            <a:ext cx="14813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Scoring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457200" y="5074920"/>
            <a:ext cx="11274552" cy="1005840"/>
          </a:xfrm>
          <a:prstGeom prst="roundRect">
            <a:avLst>
              <a:gd name="adj" fmla="val 7273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640080" y="5074920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Agent</a:t>
            </a: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recruiter intent, follow-ups &amp; report delivery.   </a:t>
            </a:r>
            <a:r>
              <a:rPr lang="en-US" sz="11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Chat Manager</a:t>
            </a: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controls execution state and routes between agents — it runs no business validation logic itself.   </a:t>
            </a:r>
            <a:r>
              <a:rPr lang="en-US" sz="11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Agent</a:t>
            </a:r>
            <a:r>
              <a:rPr lang="en-US" sz="11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executes resume, ATS, company, contact &amp; fraud checks and calls the rule engine.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Candidate Validation Platform  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7" name="Shape 2">
            <a:extLst>
              <a:ext uri="{FF2B5EF4-FFF2-40B4-BE49-F238E27FC236}">
                <a16:creationId xmlns:a16="http://schemas.microsoft.com/office/drawing/2014/main" id="{B9AB4B88-7BFE-4ED2-BB54-9EE62046238B}"/>
              </a:ext>
            </a:extLst>
          </p:cNvPr>
          <p:cNvSpPr/>
          <p:nvPr/>
        </p:nvSpPr>
        <p:spPr>
          <a:xfrm>
            <a:off x="502920" y="502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9" name="Image 0" descr="logo.png">
            <a:extLst>
              <a:ext uri="{FF2B5EF4-FFF2-40B4-BE49-F238E27FC236}">
                <a16:creationId xmlns:a16="http://schemas.microsoft.com/office/drawing/2014/main" id="{135CC487-C82F-76D3-6166-08A3D7BE2F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94360"/>
            <a:ext cx="996696" cy="168250"/>
          </a:xfrm>
          <a:prstGeom prst="rect">
            <a:avLst/>
          </a:prstGeom>
        </p:spPr>
      </p:pic>
      <p:sp>
        <p:nvSpPr>
          <p:cNvPr id="60" name="Shape 11">
            <a:extLst>
              <a:ext uri="{FF2B5EF4-FFF2-40B4-BE49-F238E27FC236}">
                <a16:creationId xmlns:a16="http://schemas.microsoft.com/office/drawing/2014/main" id="{8EC98C4C-3125-D0B5-AEED-38311B762755}"/>
              </a:ext>
            </a:extLst>
          </p:cNvPr>
          <p:cNvSpPr/>
          <p:nvPr/>
        </p:nvSpPr>
        <p:spPr>
          <a:xfrm>
            <a:off x="4879843" y="2034281"/>
            <a:ext cx="1207217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F6B64974-2914-2095-FC75-2F0530E43B51}"/>
              </a:ext>
            </a:extLst>
          </p:cNvPr>
          <p:cNvSpPr/>
          <p:nvPr/>
        </p:nvSpPr>
        <p:spPr>
          <a:xfrm>
            <a:off x="5254956" y="2171441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62" name="Image 1" descr="/home/claude/icons/comments_red.png">
            <a:extLst>
              <a:ext uri="{FF2B5EF4-FFF2-40B4-BE49-F238E27FC236}">
                <a16:creationId xmlns:a16="http://schemas.microsoft.com/office/drawing/2014/main" id="{EC0C1F41-7BE8-0B62-F79B-C4FF06052A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7851" y="2294336"/>
            <a:ext cx="266273" cy="266273"/>
          </a:xfrm>
          <a:prstGeom prst="rect">
            <a:avLst/>
          </a:prstGeom>
        </p:spPr>
      </p:pic>
      <p:sp>
        <p:nvSpPr>
          <p:cNvPr id="63" name="Text 13">
            <a:extLst>
              <a:ext uri="{FF2B5EF4-FFF2-40B4-BE49-F238E27FC236}">
                <a16:creationId xmlns:a16="http://schemas.microsoft.com/office/drawing/2014/main" id="{AD6C69D3-87D8-E48A-8C2A-1FC17AD34CC5}"/>
              </a:ext>
            </a:extLst>
          </p:cNvPr>
          <p:cNvSpPr/>
          <p:nvPr/>
        </p:nvSpPr>
        <p:spPr>
          <a:xfrm>
            <a:off x="4345128" y="2692649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100" dirty="0"/>
          </a:p>
        </p:txBody>
      </p:sp>
      <p:sp>
        <p:nvSpPr>
          <p:cNvPr id="65" name="Shape 16">
            <a:extLst>
              <a:ext uri="{FF2B5EF4-FFF2-40B4-BE49-F238E27FC236}">
                <a16:creationId xmlns:a16="http://schemas.microsoft.com/office/drawing/2014/main" id="{69016E0C-D6B6-AF94-84E2-51E384C7D841}"/>
              </a:ext>
            </a:extLst>
          </p:cNvPr>
          <p:cNvSpPr/>
          <p:nvPr/>
        </p:nvSpPr>
        <p:spPr>
          <a:xfrm>
            <a:off x="2878637" y="1965960"/>
            <a:ext cx="1239012" cy="1234440"/>
          </a:xfrm>
          <a:prstGeom prst="roundRect">
            <a:avLst>
              <a:gd name="adj" fmla="val 5926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4A9AF557-DEFB-49CB-28BC-9FCDE0F29599}"/>
              </a:ext>
            </a:extLst>
          </p:cNvPr>
          <p:cNvSpPr/>
          <p:nvPr/>
        </p:nvSpPr>
        <p:spPr>
          <a:xfrm>
            <a:off x="3254507" y="210312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69" name="Image 2" descr="/home/claude/icons/cogs_red.png">
            <a:extLst>
              <a:ext uri="{FF2B5EF4-FFF2-40B4-BE49-F238E27FC236}">
                <a16:creationId xmlns:a16="http://schemas.microsoft.com/office/drawing/2014/main" id="{6EA7F8D5-9D70-B4ED-BC49-2477CCC484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7402" y="2226015"/>
            <a:ext cx="266273" cy="266273"/>
          </a:xfrm>
          <a:prstGeom prst="rect">
            <a:avLst/>
          </a:prstGeom>
        </p:spPr>
      </p:pic>
      <p:sp>
        <p:nvSpPr>
          <p:cNvPr id="71" name="Text 18">
            <a:extLst>
              <a:ext uri="{FF2B5EF4-FFF2-40B4-BE49-F238E27FC236}">
                <a16:creationId xmlns:a16="http://schemas.microsoft.com/office/drawing/2014/main" id="{B09A5AF1-3A1E-2957-94A4-A221542D2E58}"/>
              </a:ext>
            </a:extLst>
          </p:cNvPr>
          <p:cNvSpPr/>
          <p:nvPr/>
        </p:nvSpPr>
        <p:spPr>
          <a:xfrm>
            <a:off x="2344679" y="262432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Chat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1100" dirty="0"/>
          </a:p>
        </p:txBody>
      </p:sp>
      <p:sp>
        <p:nvSpPr>
          <p:cNvPr id="73" name="Text 19">
            <a:extLst>
              <a:ext uri="{FF2B5EF4-FFF2-40B4-BE49-F238E27FC236}">
                <a16:creationId xmlns:a16="http://schemas.microsoft.com/office/drawing/2014/main" id="{98F3B9C9-8C02-8ABD-F477-0922C9615C9A}"/>
              </a:ext>
            </a:extLst>
          </p:cNvPr>
          <p:cNvSpPr/>
          <p:nvPr/>
        </p:nvSpPr>
        <p:spPr>
          <a:xfrm>
            <a:off x="2344679" y="297180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workflow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498080" y="36576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Candidate Validation Platform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Gets Validated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functional pipeline, from upload to AI-scored report — flow moves left to right, top to bottom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057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10" name="Image 0" descr="/home/claude/icons/upload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16712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057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Resume Intake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26517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uploads PDF/DOCX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extracts structured JSON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education, experience, skills, projects, LinkedIn URL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51960" y="18745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057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15" name="Image 1" descr="/home/claude/icons/link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16712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0" y="2057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Identity &amp; Contact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480560" y="26517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profile scraped &amp; matched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DNS/MX + disposable check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parsed to E.164 + region/type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046720" y="187452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29600" y="20574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20" name="Image 2" descr="/home/claude/icons/building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216712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23960" y="20574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Company &amp; ATS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75320" y="265176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reachability, SSL &amp; DNS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MX records verified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lookup by ID, email or phone fallback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5720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0080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25" name="Image 3" descr="/home/claude/icons/gradcap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31596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4206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Education, Exp &amp; Skills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5800" y="4800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Timeline, gaps &amp; overlaps detected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&amp; future-date checks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vs. project tech-stack alignment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25196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34840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30" name="Image 4" descr="/home/claude/icons/fingerprin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4568" y="4315968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29200" y="4206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Fraud &amp; Genuineness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480560" y="4800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Keyword-stuffing detection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content markers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placeholders &amp; repeated phrases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8046720" y="402336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229600" y="42062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35" name="Image 5" descr="/home/claude/icons/brain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9328" y="4315968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823960" y="42062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AI Scoring &amp; Report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8275320" y="4800600"/>
            <a:ext cx="31546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synthesizes all evidence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Score, risk level &amp; recommendation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+ interview questions</a:t>
            </a:r>
            <a:endParaRPr lang="en-US" sz="950" dirty="0"/>
          </a:p>
        </p:txBody>
      </p:sp>
      <p:sp>
        <p:nvSpPr>
          <p:cNvPr id="38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Candidate Validation Platform  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BDFBEF54-7CE4-6216-B4A2-F9E4D7B97097}"/>
              </a:ext>
            </a:extLst>
          </p:cNvPr>
          <p:cNvSpPr/>
          <p:nvPr/>
        </p:nvSpPr>
        <p:spPr>
          <a:xfrm>
            <a:off x="502920" y="502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3" name="Image 0" descr="logo.png">
            <a:extLst>
              <a:ext uri="{FF2B5EF4-FFF2-40B4-BE49-F238E27FC236}">
                <a16:creationId xmlns:a16="http://schemas.microsoft.com/office/drawing/2014/main" id="{8BC693A3-AF9F-F41E-8F45-65F192B473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594360"/>
            <a:ext cx="996696" cy="168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36576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Candidate Validation Platform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Sample Output — Not a Mockup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generated report for candidate PIRUTHVIN M — Full-Stack Developer  |  Report v2.0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842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2920" y="25328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8745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9842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25328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18745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9842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343400" y="25328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(low=good)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8745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9842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63640" y="25328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0" y="18745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9842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183880" y="25328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58400" y="18745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198424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04120" y="2532888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Level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11274552" cy="502920"/>
          </a:xfrm>
          <a:prstGeom prst="roundRect">
            <a:avLst>
              <a:gd name="adj" fmla="val 14545"/>
            </a:avLst>
          </a:prstGeom>
          <a:solidFill>
            <a:srgbClr val="F3D3C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06324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52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REVIEW</a:t>
            </a:r>
            <a:r>
              <a:rPr lang="en-US" sz="115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— cross-source inconsistencies found; experience data incomplete; fraud risk is low.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8862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Findings the System Caught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" y="4297680"/>
            <a:ext cx="48920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email/phone mismatch vs. resume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resume skills not present in ATS record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section missing — timeline checks skipped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certifications missing issuer information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could not be verified (0 score)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project technologies not listed in skills (Playwright, Jinja2)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374904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EAF2EC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8862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Bonus 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429768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tailored technical interview questions from the candidate's real project stack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FastAPI, Azure Container Apps, Spring Boot, JWT &amp; Playwright all covered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question mapped to why it was asked (evidence trail)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+ recruiter notes auto-written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56235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report: report-ZR_1_CAND-20260730182402.html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Candidate Validation Platform  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51AECED5-2BCF-8FD2-88EA-6814C099AD93}"/>
              </a:ext>
            </a:extLst>
          </p:cNvPr>
          <p:cNvSpPr/>
          <p:nvPr/>
        </p:nvSpPr>
        <p:spPr>
          <a:xfrm>
            <a:off x="502920" y="502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0" name="Image 0" descr="logo.png">
            <a:extLst>
              <a:ext uri="{FF2B5EF4-FFF2-40B4-BE49-F238E27FC236}">
                <a16:creationId xmlns:a16="http://schemas.microsoft.com/office/drawing/2014/main" id="{DB975892-A353-51CB-0AC8-C4DA3C96E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94360"/>
            <a:ext cx="996696" cy="168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36576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Candidate Validation Platform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Actually Works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concept — a fully working, evidence-based validation engine, live right now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4884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10" name="Image 0" descr="/home/claude/icons/check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2254179"/>
            <a:ext cx="228234" cy="2282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34440" y="2148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Not Guesswork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85800" y="267919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traces to a concrete check — DNS records, ATS mismatches, timeline gaps — not a black-box guess.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51960" y="196596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53128" y="214884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15" name="Image 1" descr="/home/claude/icons/layer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467" y="2254179"/>
            <a:ext cx="228234" cy="22823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29200" y="2148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Multi-Agent Design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480560" y="267919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Conversation, orchestration &amp; validation are separate agents — easy to extend without touching business logic.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046720" y="196596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247888" y="214884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20" name="Image 2" descr="/home/claude/icons/robo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227" y="2254179"/>
            <a:ext cx="228234" cy="22823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823960" y="214884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Explains Itself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275320" y="267919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ship with reasoning, an executive summary, and recruiter notes — not just pass/fail.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57200" y="3749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8368" y="393192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25" name="Image 3" descr="/home/claude/icons/question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707" y="4037259"/>
            <a:ext cx="228234" cy="22823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34440" y="39319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Questions, Auto-Built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85800" y="44622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project tech stacks are turned into ready-to-ask technical interview questions.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4251960" y="3749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453128" y="393192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30" name="Image 4" descr="/home/claude/icons/bol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8467" y="4037259"/>
            <a:ext cx="228234" cy="22823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29200" y="39319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Not Hours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4480560" y="44622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13-module validation — resume, contact, company, ATS, fraud — completes in under 2 minutes.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8046720" y="374904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247888" y="393192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35" name="Image 5" descr="/home/claude/icons/lock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227" y="4037259"/>
            <a:ext cx="228234" cy="22823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823960" y="39319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by Default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8275320" y="4462272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live in Azure Blob behind SAS-secured, time-limited URLs — no public exposure, no leaks.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457200" y="5739161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1B1E24"/>
          </a:solidFill>
          <a:ln/>
        </p:spPr>
      </p:sp>
      <p:sp>
        <p:nvSpPr>
          <p:cNvPr id="39" name="Text 31"/>
          <p:cNvSpPr/>
          <p:nvPr/>
        </p:nvSpPr>
        <p:spPr>
          <a:xfrm>
            <a:off x="640080" y="5739161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Validation Modules   |   &lt;2 Min Turnaround   |   100% Evidence-Based Scoring   |   SAS-Secured Reports   |   3-Agent Architecture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Candidate Validation Platform  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3" name="Shape 2">
            <a:extLst>
              <a:ext uri="{FF2B5EF4-FFF2-40B4-BE49-F238E27FC236}">
                <a16:creationId xmlns:a16="http://schemas.microsoft.com/office/drawing/2014/main" id="{3CB5FA1C-67C9-A289-C577-9BC1D1E005B7}"/>
              </a:ext>
            </a:extLst>
          </p:cNvPr>
          <p:cNvSpPr/>
          <p:nvPr/>
        </p:nvSpPr>
        <p:spPr>
          <a:xfrm>
            <a:off x="502920" y="502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45" name="Image 0" descr="logo.png">
            <a:extLst>
              <a:ext uri="{FF2B5EF4-FFF2-40B4-BE49-F238E27FC236}">
                <a16:creationId xmlns:a16="http://schemas.microsoft.com/office/drawing/2014/main" id="{6AAE17D2-E280-67CA-793D-04CA758011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594360"/>
            <a:ext cx="996696" cy="168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365760"/>
            <a:ext cx="4233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Candidate Validation Platform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Stack, APIs &amp; Live Demo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344168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8116" y="19842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9" name="Image 0" descr="/home/claude/icons/react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77" y="2080809"/>
            <a:ext cx="209215" cy="2092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4231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2670048"/>
            <a:ext cx="1252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1901952" y="1874520"/>
            <a:ext cx="1344168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2868" y="19842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14" name="Image 1" descr="/home/claude/icons/server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9429" y="2080809"/>
            <a:ext cx="209215" cy="20921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947672" y="24231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947672" y="2670048"/>
            <a:ext cx="1252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3346704" y="1874520"/>
            <a:ext cx="1344168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17620" y="19842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19" name="Image 2" descr="/home/claude/icons/python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181" y="2080809"/>
            <a:ext cx="209215" cy="20921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92424" y="24231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392424" y="2670048"/>
            <a:ext cx="1252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50" dirty="0"/>
          </a:p>
        </p:txBody>
      </p:sp>
      <p:sp>
        <p:nvSpPr>
          <p:cNvPr id="22" name="Shape 17"/>
          <p:cNvSpPr/>
          <p:nvPr/>
        </p:nvSpPr>
        <p:spPr>
          <a:xfrm>
            <a:off x="4791456" y="1874520"/>
            <a:ext cx="1344168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262372" y="19842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24" name="Image 3" descr="/home/claude/icons/cloud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933" y="2080809"/>
            <a:ext cx="209215" cy="20921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37176" y="24231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Blob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837176" y="2670048"/>
            <a:ext cx="1252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Storage</a:t>
            </a:r>
            <a:endParaRPr lang="en-US" sz="750" dirty="0"/>
          </a:p>
        </p:txBody>
      </p:sp>
      <p:sp>
        <p:nvSpPr>
          <p:cNvPr id="27" name="Shape 21"/>
          <p:cNvSpPr/>
          <p:nvPr/>
        </p:nvSpPr>
        <p:spPr>
          <a:xfrm>
            <a:off x="6236208" y="1874520"/>
            <a:ext cx="1344168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707124" y="19842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29" name="Image 4" descr="/home/claude/icons/microsof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685" y="2080809"/>
            <a:ext cx="209215" cy="20921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281928" y="24231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Recruit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6281928" y="2670048"/>
            <a:ext cx="1252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Integration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7680960" y="1874520"/>
            <a:ext cx="1344168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8151876" y="19842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34" name="Image 5" descr="/home/claude/icons/filealt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8437" y="2080809"/>
            <a:ext cx="209215" cy="20921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726680" y="24231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7726680" y="2670048"/>
            <a:ext cx="1252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Docs</a:t>
            </a:r>
            <a:endParaRPr lang="en-US" sz="750" dirty="0"/>
          </a:p>
        </p:txBody>
      </p:sp>
      <p:sp>
        <p:nvSpPr>
          <p:cNvPr id="37" name="Shape 29"/>
          <p:cNvSpPr/>
          <p:nvPr/>
        </p:nvSpPr>
        <p:spPr>
          <a:xfrm>
            <a:off x="9125712" y="1874520"/>
            <a:ext cx="1344168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9596628" y="19842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39" name="Image 6" descr="/home/claude/icons/lock_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3189" y="2080809"/>
            <a:ext cx="209215" cy="20921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9171432" y="24231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9171432" y="2670048"/>
            <a:ext cx="1252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750" dirty="0"/>
          </a:p>
        </p:txBody>
      </p:sp>
      <p:sp>
        <p:nvSpPr>
          <p:cNvPr id="42" name="Shape 33"/>
          <p:cNvSpPr/>
          <p:nvPr/>
        </p:nvSpPr>
        <p:spPr>
          <a:xfrm>
            <a:off x="10570464" y="1874520"/>
            <a:ext cx="1344168" cy="1051560"/>
          </a:xfrm>
          <a:prstGeom prst="roundRect">
            <a:avLst>
              <a:gd name="adj" fmla="val 6957"/>
            </a:avLst>
          </a:prstGeom>
          <a:solidFill>
            <a:srgbClr val="F5F6F8"/>
          </a:solidFill>
          <a:ln w="9525">
            <a:solidFill>
              <a:srgbClr val="E3E5E9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11041380" y="19842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CEBE9"/>
          </a:solidFill>
          <a:ln/>
        </p:spPr>
      </p:sp>
      <p:pic>
        <p:nvPicPr>
          <p:cNvPr id="44" name="Image 7" descr="/home/claude/icons/cloud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37941" y="2080809"/>
            <a:ext cx="209215" cy="209215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10616184" y="2423160"/>
            <a:ext cx="1252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Apps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10616184" y="2670048"/>
            <a:ext cx="12527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750" dirty="0"/>
          </a:p>
        </p:txBody>
      </p:sp>
      <p:sp>
        <p:nvSpPr>
          <p:cNvPr id="49" name="Text 39"/>
          <p:cNvSpPr/>
          <p:nvPr/>
        </p:nvSpPr>
        <p:spPr>
          <a:xfrm>
            <a:off x="640080" y="2933847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/api/v1/resume/validate   ·   GET /api/v1/ats/candidates/{id}   ·   POST /api/v1/company/verify   ·   POST /api/v1/validation/execute   ·   POST /api/v1/report/generate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457200" y="3665367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CEBE9"/>
          </a:solidFill>
          <a:ln/>
        </p:spPr>
      </p:sp>
      <p:sp>
        <p:nvSpPr>
          <p:cNvPr id="51" name="Shape 41"/>
          <p:cNvSpPr/>
          <p:nvPr/>
        </p:nvSpPr>
        <p:spPr>
          <a:xfrm>
            <a:off x="685800" y="3866535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52" name="Image 8" descr="/home/claude/icons/eye_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" y="3976263"/>
            <a:ext cx="237744" cy="237744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1280160" y="3866535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 Live Frontend</a:t>
            </a:r>
            <a:endParaRPr lang="en-US" sz="1300" dirty="0"/>
          </a:p>
        </p:txBody>
      </p:sp>
      <p:sp>
        <p:nvSpPr>
          <p:cNvPr id="54" name="Text 43"/>
          <p:cNvSpPr/>
          <p:nvPr/>
        </p:nvSpPr>
        <p:spPr>
          <a:xfrm>
            <a:off x="685800" y="4442607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2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1"/>
              </a:rPr>
              <a:t>candidatevalidationui26.z29.web.core.windows.net</a:t>
            </a:r>
            <a:endParaRPr lang="en-US" sz="1000" dirty="0"/>
          </a:p>
        </p:txBody>
      </p:sp>
      <p:sp>
        <p:nvSpPr>
          <p:cNvPr id="55" name="Text 44"/>
          <p:cNvSpPr/>
          <p:nvPr/>
        </p:nvSpPr>
        <p:spPr>
          <a:xfrm>
            <a:off x="685800" y="4762647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resume and watch the multi-agent pipeline validate it end-to-end, live.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6263640" y="3665367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CEBE9"/>
          </a:solidFill>
          <a:ln/>
        </p:spPr>
      </p:sp>
      <p:sp>
        <p:nvSpPr>
          <p:cNvPr id="57" name="Shape 46"/>
          <p:cNvSpPr/>
          <p:nvPr/>
        </p:nvSpPr>
        <p:spPr>
          <a:xfrm>
            <a:off x="6492240" y="3866535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58" name="Image 9" descr="/home/claude/icons/filealt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3976263"/>
            <a:ext cx="237744" cy="237744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7086600" y="3866535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E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 Real Sample Report</a:t>
            </a:r>
            <a:endParaRPr lang="en-US" sz="1300" dirty="0"/>
          </a:p>
        </p:txBody>
      </p:sp>
      <p:sp>
        <p:nvSpPr>
          <p:cNvPr id="60" name="Text 48"/>
          <p:cNvSpPr/>
          <p:nvPr/>
        </p:nvSpPr>
        <p:spPr>
          <a:xfrm>
            <a:off x="6492240" y="4442607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27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2"/>
              </a:rPr>
              <a:t>report-ZR_1_CAND-20260806074315.html</a:t>
            </a:r>
            <a:endParaRPr lang="en-US" sz="1000" dirty="0"/>
          </a:p>
        </p:txBody>
      </p:sp>
      <p:sp>
        <p:nvSpPr>
          <p:cNvPr id="61" name="Text 49"/>
          <p:cNvSpPr/>
          <p:nvPr/>
        </p:nvSpPr>
        <p:spPr>
          <a:xfrm>
            <a:off x="6492240" y="4762647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(Azure Blob, SAS-secured, time-limited access)</a:t>
            </a:r>
            <a:endParaRPr lang="en-US" sz="1000" dirty="0"/>
          </a:p>
        </p:txBody>
      </p:sp>
      <p:sp>
        <p:nvSpPr>
          <p:cNvPr id="62" name="Text 5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Candidate Validation Platform  </a:t>
            </a:r>
            <a:endParaRPr lang="en-US" sz="900" dirty="0"/>
          </a:p>
        </p:txBody>
      </p:sp>
      <p:sp>
        <p:nvSpPr>
          <p:cNvPr id="63" name="Text 5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199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5" name="Shape 2">
            <a:extLst>
              <a:ext uri="{FF2B5EF4-FFF2-40B4-BE49-F238E27FC236}">
                <a16:creationId xmlns:a16="http://schemas.microsoft.com/office/drawing/2014/main" id="{AF98FCF6-A4E1-ABE7-5650-F6AFA9E333D9}"/>
              </a:ext>
            </a:extLst>
          </p:cNvPr>
          <p:cNvSpPr/>
          <p:nvPr/>
        </p:nvSpPr>
        <p:spPr>
          <a:xfrm>
            <a:off x="502920" y="50292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7" name="Image 0" descr="logo.png">
            <a:extLst>
              <a:ext uri="{FF2B5EF4-FFF2-40B4-BE49-F238E27FC236}">
                <a16:creationId xmlns:a16="http://schemas.microsoft.com/office/drawing/2014/main" id="{5DE93E93-56CF-21D1-9C0F-0C0D8E1188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" y="594360"/>
            <a:ext cx="996696" cy="168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1006</Words>
  <Application>Microsoft Office PowerPoint</Application>
  <PresentationFormat>Widescreen</PresentationFormat>
  <Paragraphs>187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PIRUTHVIN M</cp:lastModifiedBy>
  <cp:revision>5</cp:revision>
  <dcterms:created xsi:type="dcterms:W3CDTF">2026-07-30T19:46:43Z</dcterms:created>
  <dcterms:modified xsi:type="dcterms:W3CDTF">2026-08-28T08:42:15Z</dcterms:modified>
</cp:coreProperties>
</file>