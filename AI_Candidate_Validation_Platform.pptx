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5526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5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hyperlink" Target="https://cvplatformui2026.blob.core.windows.net/candidate-reports/report-ZR_1_CAND-20260806074315.html?se=2026-08-07T07%3A43%3A15Z&amp;sp=r&amp;sv=2026-06-06&amp;sr=b&amp;sig=EBlQ48Zd5JCHj4OgsWJLi9A8ek%2BdAX5h90LGbG5rV%2B8%3D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hyperlink" Target="https://candidatevalidationui26.z29.web.core.windows.net/" TargetMode="External"/><Relationship Id="rId5" Type="http://schemas.openxmlformats.org/officeDocument/2006/relationships/image" Target="../media/image23.png"/><Relationship Id="rId10" Type="http://schemas.openxmlformats.org/officeDocument/2006/relationships/image" Target="../media/image26.png"/><Relationship Id="rId4" Type="http://schemas.openxmlformats.org/officeDocument/2006/relationships/image" Target="../media/image22.png"/><Relationship Id="rId9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0" y="365760"/>
            <a:ext cx="4233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Candidate Validation Platform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52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VALIDATION SYSTEM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9601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Candidate</a:t>
            </a:r>
            <a:endParaRPr lang="en-US" sz="4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Platform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361188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Resume Verification, Cross-Source Fraud Detection &amp; Evidence-Backed Candidate Scoring — built end-to-end and demoed live.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434840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45994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5271A"/>
          </a:solidFill>
          <a:ln/>
        </p:spPr>
      </p:sp>
      <p:pic>
        <p:nvPicPr>
          <p:cNvPr id="11" name="Image 0" descr="/home/claude/icons/users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709160"/>
            <a:ext cx="237744" cy="23774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70432" y="44348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AI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46120" y="4434840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10712" y="45994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5271A"/>
          </a:solidFill>
          <a:ln/>
        </p:spPr>
      </p:sp>
      <p:pic>
        <p:nvPicPr>
          <p:cNvPr id="15" name="Image 1" descr="/home/claude/icons/tasks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4709160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959352" y="44348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Validation Modules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035040" y="4434840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99632" y="45994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5271A"/>
          </a:solidFill>
          <a:ln/>
        </p:spPr>
      </p:sp>
      <p:pic>
        <p:nvPicPr>
          <p:cNvPr id="19" name="Image 2" descr="/home/claude/icons/bolt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709160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748272" y="44348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Scoring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823960" y="4434840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88552" y="45994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5271A"/>
          </a:solidFill>
          <a:ln/>
        </p:spPr>
      </p:sp>
      <p:pic>
        <p:nvPicPr>
          <p:cNvPr id="23" name="Image 3" descr="/home/claude/icons/shield_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8280" y="4709160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537192" y="44348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Detection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457200" y="56235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Piruthvin</a:t>
            </a:r>
            <a:r>
              <a:rPr lang="en-US" sz="11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</a:t>
            </a:r>
            <a:endParaRPr lang="en-US" sz="1100" dirty="0"/>
          </a:p>
        </p:txBody>
      </p:sp>
      <p:sp>
        <p:nvSpPr>
          <p:cNvPr id="31" name="Shape 2">
            <a:extLst>
              <a:ext uri="{FF2B5EF4-FFF2-40B4-BE49-F238E27FC236}">
                <a16:creationId xmlns:a16="http://schemas.microsoft.com/office/drawing/2014/main" id="{E5F851E1-198F-7727-154C-D84857994ECA}"/>
              </a:ext>
            </a:extLst>
          </p:cNvPr>
          <p:cNvSpPr/>
          <p:nvPr/>
        </p:nvSpPr>
        <p:spPr>
          <a:xfrm>
            <a:off x="502920" y="502920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3" name="Image 0" descr="logo.png">
            <a:extLst>
              <a:ext uri="{FF2B5EF4-FFF2-40B4-BE49-F238E27FC236}">
                <a16:creationId xmlns:a16="http://schemas.microsoft.com/office/drawing/2014/main" id="{6836D805-94C0-14E8-E535-6B3D951771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94360"/>
            <a:ext cx="996696" cy="1682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7498080" y="365760"/>
            <a:ext cx="4233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Candidate Validation Platform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1089986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Problem, and Our Solution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FCEBE9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17627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9" name="Image 0" descr="/home/claude/icons/exclaim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1" y="2296973"/>
            <a:ext cx="261518" cy="26151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217627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in Hiring Today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85800" y="2788920"/>
            <a:ext cx="4846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 resumes &amp; exaggerated skills routinely go undetected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verification takes 2-4 hours per candidate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Resume, ATS, LinkedIn &amp; company data live in silos — never cross-checked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Inconsistent, subjective hiring decisions across recruiters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standardized fraud or risk scoring before interview stage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 &amp; employment forgery is hard to catch manually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63640" y="192024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EAF2EC"/>
          </a:solidFill>
          <a:ln/>
        </p:spPr>
      </p:sp>
      <p:sp>
        <p:nvSpPr>
          <p:cNvPr id="13" name="Shape 10"/>
          <p:cNvSpPr/>
          <p:nvPr/>
        </p:nvSpPr>
        <p:spPr>
          <a:xfrm>
            <a:off x="6492240" y="217627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14" name="Image 1" descr="/home/claude/icons/brain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941" y="2296973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132320" y="217627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492240" y="2743200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multi-agent AI system that cross-verifies every resume claim against LinkedIn, ATS, email/phone, and company records — then produces a scored, evidence-backed report automatically.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6492240" y="3520440"/>
            <a:ext cx="48920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engine + LLM reasoning, not black-box scoring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Cross-source validation across 6+ independent data points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Auto-generated executive summary &amp; interview questions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489204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1B1E24"/>
          </a:solidFill>
          <a:ln/>
        </p:spPr>
      </p:sp>
      <p:sp>
        <p:nvSpPr>
          <p:cNvPr id="19" name="Text 15"/>
          <p:cNvSpPr/>
          <p:nvPr/>
        </p:nvSpPr>
        <p:spPr>
          <a:xfrm>
            <a:off x="640080" y="489204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"Upload a resume → get a fraud-checked, scored validation report in under 2 minutes."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457200" y="5577840"/>
            <a:ext cx="2715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52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70%+  </a:t>
            </a:r>
            <a:r>
              <a:rPr lang="en-US" sz="10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Screening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3172968" y="5577840"/>
            <a:ext cx="2715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52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</a:t>
            </a:r>
            <a:r>
              <a:rPr lang="en-US" sz="10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Modules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5888736" y="5577840"/>
            <a:ext cx="2715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52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&lt;2 min  </a:t>
            </a:r>
            <a:r>
              <a:rPr lang="en-US" sz="10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Turnaround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8604504" y="5577840"/>
            <a:ext cx="2715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52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6+  </a:t>
            </a:r>
            <a:r>
              <a:rPr lang="en-US" sz="10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Cross-Checked Sources</a:t>
            </a:r>
            <a:endParaRPr lang="en-US" sz="1500" dirty="0"/>
          </a:p>
        </p:txBody>
      </p:sp>
      <p:sp>
        <p:nvSpPr>
          <p:cNvPr id="24" name="Text 20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Candidate Validation Platform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7" name="Shape 2">
            <a:extLst>
              <a:ext uri="{FF2B5EF4-FFF2-40B4-BE49-F238E27FC236}">
                <a16:creationId xmlns:a16="http://schemas.microsoft.com/office/drawing/2014/main" id="{1895328D-2D2A-8C10-90F7-F10CEBB39ED8}"/>
              </a:ext>
            </a:extLst>
          </p:cNvPr>
          <p:cNvSpPr/>
          <p:nvPr/>
        </p:nvSpPr>
        <p:spPr>
          <a:xfrm>
            <a:off x="502920" y="502920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29" name="Image 0" descr="logo.png">
            <a:extLst>
              <a:ext uri="{FF2B5EF4-FFF2-40B4-BE49-F238E27FC236}">
                <a16:creationId xmlns:a16="http://schemas.microsoft.com/office/drawing/2014/main" id="{2BCDAEF7-7488-B0C7-797B-1FFA42A078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94360"/>
            <a:ext cx="996696" cy="1682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7498080" y="365760"/>
            <a:ext cx="4233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Candidate Validation Platform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 &amp; Data Flow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Three-agent orchestration on top, full validation data pipeline below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43796" y="1965960"/>
            <a:ext cx="1313832" cy="1234440"/>
          </a:xfrm>
          <a:prstGeom prst="roundRect">
            <a:avLst>
              <a:gd name="adj" fmla="val 5926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67028" y="2103120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10" name="Image 0" descr="/home/claude/icons/users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9923" y="2226015"/>
            <a:ext cx="266273" cy="26627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2624328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297180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Initiates request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443862" y="1965960"/>
            <a:ext cx="320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4431401" y="1965960"/>
            <a:ext cx="320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Text 20"/>
          <p:cNvSpPr/>
          <p:nvPr/>
        </p:nvSpPr>
        <p:spPr>
          <a:xfrm>
            <a:off x="6237768" y="2017716"/>
            <a:ext cx="320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1"/>
          <p:cNvSpPr/>
          <p:nvPr/>
        </p:nvSpPr>
        <p:spPr>
          <a:xfrm>
            <a:off x="6739834" y="2017716"/>
            <a:ext cx="1463167" cy="1234440"/>
          </a:xfrm>
          <a:prstGeom prst="roundRect">
            <a:avLst>
              <a:gd name="adj" fmla="val 5926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243350" y="215487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28" name="Image 3" descr="/home/claude/icons/shield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245" y="2277771"/>
            <a:ext cx="266273" cy="266273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333522" y="2676084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6333522" y="3023556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all checks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8397824" y="2017716"/>
            <a:ext cx="320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2" name="Shape 26"/>
          <p:cNvSpPr/>
          <p:nvPr/>
        </p:nvSpPr>
        <p:spPr>
          <a:xfrm>
            <a:off x="8848124" y="2017716"/>
            <a:ext cx="1641599" cy="1234440"/>
          </a:xfrm>
          <a:prstGeom prst="roundRect">
            <a:avLst>
              <a:gd name="adj" fmla="val 5926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9437912" y="215487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34" name="Image 4" descr="/home/claude/icons/filealt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0807" y="2277771"/>
            <a:ext cx="266273" cy="266273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528084" y="2676084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8528084" y="3023556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Scored HTML</a:t>
            </a:r>
            <a:endParaRPr lang="en-US" sz="850" dirty="0"/>
          </a:p>
        </p:txBody>
      </p:sp>
      <p:sp>
        <p:nvSpPr>
          <p:cNvPr id="37" name="Text 30"/>
          <p:cNvSpPr/>
          <p:nvPr/>
        </p:nvSpPr>
        <p:spPr>
          <a:xfrm>
            <a:off x="457200" y="3520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Data Pipeline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457200" y="3931920"/>
            <a:ext cx="1572768" cy="868680"/>
          </a:xfrm>
          <a:prstGeom prst="roundRect">
            <a:avLst>
              <a:gd name="adj" fmla="val 6316"/>
            </a:avLst>
          </a:prstGeom>
          <a:solidFill>
            <a:srgbClr val="FCEBE9"/>
          </a:solidFill>
          <a:ln/>
        </p:spPr>
      </p:sp>
      <p:sp>
        <p:nvSpPr>
          <p:cNvPr id="39" name="Text 32"/>
          <p:cNvSpPr/>
          <p:nvPr/>
        </p:nvSpPr>
        <p:spPr>
          <a:xfrm>
            <a:off x="502920" y="3931920"/>
            <a:ext cx="148132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</a:t>
            </a:r>
            <a:endParaRPr lang="en-US" sz="950" dirty="0"/>
          </a:p>
        </p:txBody>
      </p:sp>
      <p:sp>
        <p:nvSpPr>
          <p:cNvPr id="40" name="Shape 33"/>
          <p:cNvSpPr/>
          <p:nvPr/>
        </p:nvSpPr>
        <p:spPr>
          <a:xfrm>
            <a:off x="2084832" y="3931920"/>
            <a:ext cx="1572768" cy="868680"/>
          </a:xfrm>
          <a:prstGeom prst="roundRect">
            <a:avLst>
              <a:gd name="adj" fmla="val 6316"/>
            </a:avLst>
          </a:prstGeom>
          <a:solidFill>
            <a:srgbClr val="FCEBE9"/>
          </a:solidFill>
          <a:ln/>
        </p:spPr>
      </p:sp>
      <p:sp>
        <p:nvSpPr>
          <p:cNvPr id="41" name="Text 34"/>
          <p:cNvSpPr/>
          <p:nvPr/>
        </p:nvSpPr>
        <p:spPr>
          <a:xfrm>
            <a:off x="2130552" y="3931920"/>
            <a:ext cx="148132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&amp;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3712464" y="3931920"/>
            <a:ext cx="1572768" cy="868680"/>
          </a:xfrm>
          <a:prstGeom prst="roundRect">
            <a:avLst>
              <a:gd name="adj" fmla="val 6316"/>
            </a:avLst>
          </a:prstGeom>
          <a:solidFill>
            <a:srgbClr val="FCEBE9"/>
          </a:solidFill>
          <a:ln/>
        </p:spPr>
      </p:sp>
      <p:sp>
        <p:nvSpPr>
          <p:cNvPr id="43" name="Text 36"/>
          <p:cNvSpPr/>
          <p:nvPr/>
        </p:nvSpPr>
        <p:spPr>
          <a:xfrm>
            <a:off x="3758184" y="3931920"/>
            <a:ext cx="148132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/ Email /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Checks</a:t>
            </a:r>
            <a:endParaRPr lang="en-US" sz="950" dirty="0"/>
          </a:p>
        </p:txBody>
      </p:sp>
      <p:sp>
        <p:nvSpPr>
          <p:cNvPr id="44" name="Shape 37"/>
          <p:cNvSpPr/>
          <p:nvPr/>
        </p:nvSpPr>
        <p:spPr>
          <a:xfrm>
            <a:off x="5340096" y="3931920"/>
            <a:ext cx="1572768" cy="868680"/>
          </a:xfrm>
          <a:prstGeom prst="roundRect">
            <a:avLst>
              <a:gd name="adj" fmla="val 6316"/>
            </a:avLst>
          </a:prstGeom>
          <a:solidFill>
            <a:srgbClr val="FCEBE9"/>
          </a:solidFill>
          <a:ln/>
        </p:spPr>
      </p:sp>
      <p:sp>
        <p:nvSpPr>
          <p:cNvPr id="45" name="Text 38"/>
          <p:cNvSpPr/>
          <p:nvPr/>
        </p:nvSpPr>
        <p:spPr>
          <a:xfrm>
            <a:off x="5385816" y="3931920"/>
            <a:ext cx="148132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&amp;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ATS Lookup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6967728" y="3931920"/>
            <a:ext cx="1572768" cy="868680"/>
          </a:xfrm>
          <a:prstGeom prst="roundRect">
            <a:avLst>
              <a:gd name="adj" fmla="val 6316"/>
            </a:avLst>
          </a:prstGeom>
          <a:solidFill>
            <a:srgbClr val="FCEBE9"/>
          </a:solidFill>
          <a:ln/>
        </p:spPr>
      </p:sp>
      <p:sp>
        <p:nvSpPr>
          <p:cNvPr id="47" name="Text 40"/>
          <p:cNvSpPr/>
          <p:nvPr/>
        </p:nvSpPr>
        <p:spPr>
          <a:xfrm>
            <a:off x="7013448" y="3931920"/>
            <a:ext cx="148132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Engine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(Edu/Exp/Skills)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8595360" y="3931920"/>
            <a:ext cx="1572768" cy="868680"/>
          </a:xfrm>
          <a:prstGeom prst="roundRect">
            <a:avLst>
              <a:gd name="adj" fmla="val 6316"/>
            </a:avLst>
          </a:prstGeom>
          <a:solidFill>
            <a:srgbClr val="FCEBE9"/>
          </a:solidFill>
          <a:ln/>
        </p:spPr>
      </p:sp>
      <p:sp>
        <p:nvSpPr>
          <p:cNvPr id="49" name="Text 42"/>
          <p:cNvSpPr/>
          <p:nvPr/>
        </p:nvSpPr>
        <p:spPr>
          <a:xfrm>
            <a:off x="8641080" y="3931920"/>
            <a:ext cx="148132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10222992" y="3931920"/>
            <a:ext cx="1572768" cy="868680"/>
          </a:xfrm>
          <a:prstGeom prst="roundRect">
            <a:avLst>
              <a:gd name="adj" fmla="val 6316"/>
            </a:avLst>
          </a:prstGeom>
          <a:solidFill>
            <a:srgbClr val="FCEBE9"/>
          </a:solidFill>
          <a:ln/>
        </p:spPr>
      </p:sp>
      <p:sp>
        <p:nvSpPr>
          <p:cNvPr id="51" name="Text 44"/>
          <p:cNvSpPr/>
          <p:nvPr/>
        </p:nvSpPr>
        <p:spPr>
          <a:xfrm>
            <a:off x="10268712" y="3931920"/>
            <a:ext cx="148132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Scoring &amp;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457200" y="5074920"/>
            <a:ext cx="11274552" cy="1005840"/>
          </a:xfrm>
          <a:prstGeom prst="roundRect">
            <a:avLst>
              <a:gd name="adj" fmla="val 7273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640080" y="5074920"/>
            <a:ext cx="1090879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52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 Agent</a:t>
            </a:r>
            <a:r>
              <a:rPr lang="en-US" sz="11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handles recruiter intent, follow-ups &amp; report delivery.   </a:t>
            </a:r>
            <a:r>
              <a:rPr lang="en-US" sz="1100" b="1" dirty="0">
                <a:solidFill>
                  <a:srgbClr val="D52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Chat Manager</a:t>
            </a:r>
            <a:r>
              <a:rPr lang="en-US" sz="11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controls execution state and routes between agents — it runs no business validation logic itself.   </a:t>
            </a:r>
            <a:r>
              <a:rPr lang="en-US" sz="1100" b="1" dirty="0">
                <a:solidFill>
                  <a:srgbClr val="D52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Agent</a:t>
            </a:r>
            <a:r>
              <a:rPr lang="en-US" sz="11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executes resume, ATS, company, contact &amp; fraud checks and calls the rule engine.</a:t>
            </a:r>
            <a:endParaRPr lang="en-US" sz="1100" dirty="0"/>
          </a:p>
        </p:txBody>
      </p:sp>
      <p:sp>
        <p:nvSpPr>
          <p:cNvPr id="54" name="Text 47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Candidate Validation Platform  </a:t>
            </a:r>
            <a:endParaRPr lang="en-US" sz="900" dirty="0"/>
          </a:p>
        </p:txBody>
      </p:sp>
      <p:sp>
        <p:nvSpPr>
          <p:cNvPr id="55" name="Text 48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57" name="Shape 2">
            <a:extLst>
              <a:ext uri="{FF2B5EF4-FFF2-40B4-BE49-F238E27FC236}">
                <a16:creationId xmlns:a16="http://schemas.microsoft.com/office/drawing/2014/main" id="{B9AB4B88-7BFE-4ED2-BB54-9EE62046238B}"/>
              </a:ext>
            </a:extLst>
          </p:cNvPr>
          <p:cNvSpPr/>
          <p:nvPr/>
        </p:nvSpPr>
        <p:spPr>
          <a:xfrm>
            <a:off x="502920" y="502920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59" name="Image 0" descr="logo.png">
            <a:extLst>
              <a:ext uri="{FF2B5EF4-FFF2-40B4-BE49-F238E27FC236}">
                <a16:creationId xmlns:a16="http://schemas.microsoft.com/office/drawing/2014/main" id="{135CC487-C82F-76D3-6166-08A3D7BE2F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94360"/>
            <a:ext cx="996696" cy="168250"/>
          </a:xfrm>
          <a:prstGeom prst="rect">
            <a:avLst/>
          </a:prstGeom>
        </p:spPr>
      </p:pic>
      <p:sp>
        <p:nvSpPr>
          <p:cNvPr id="60" name="Shape 11">
            <a:extLst>
              <a:ext uri="{FF2B5EF4-FFF2-40B4-BE49-F238E27FC236}">
                <a16:creationId xmlns:a16="http://schemas.microsoft.com/office/drawing/2014/main" id="{8EC98C4C-3125-D0B5-AEED-38311B762755}"/>
              </a:ext>
            </a:extLst>
          </p:cNvPr>
          <p:cNvSpPr/>
          <p:nvPr/>
        </p:nvSpPr>
        <p:spPr>
          <a:xfrm>
            <a:off x="4879843" y="2034281"/>
            <a:ext cx="1207217" cy="1234440"/>
          </a:xfrm>
          <a:prstGeom prst="roundRect">
            <a:avLst>
              <a:gd name="adj" fmla="val 5926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61" name="Shape 12">
            <a:extLst>
              <a:ext uri="{FF2B5EF4-FFF2-40B4-BE49-F238E27FC236}">
                <a16:creationId xmlns:a16="http://schemas.microsoft.com/office/drawing/2014/main" id="{F6B64974-2914-2095-FC75-2F0530E43B51}"/>
              </a:ext>
            </a:extLst>
          </p:cNvPr>
          <p:cNvSpPr/>
          <p:nvPr/>
        </p:nvSpPr>
        <p:spPr>
          <a:xfrm>
            <a:off x="5254956" y="2171441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62" name="Image 1" descr="/home/claude/icons/comments_red.png">
            <a:extLst>
              <a:ext uri="{FF2B5EF4-FFF2-40B4-BE49-F238E27FC236}">
                <a16:creationId xmlns:a16="http://schemas.microsoft.com/office/drawing/2014/main" id="{EC0C1F41-7BE8-0B62-F79B-C4FF06052A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7851" y="2294336"/>
            <a:ext cx="266273" cy="266273"/>
          </a:xfrm>
          <a:prstGeom prst="rect">
            <a:avLst/>
          </a:prstGeom>
        </p:spPr>
      </p:pic>
      <p:sp>
        <p:nvSpPr>
          <p:cNvPr id="63" name="Text 13">
            <a:extLst>
              <a:ext uri="{FF2B5EF4-FFF2-40B4-BE49-F238E27FC236}">
                <a16:creationId xmlns:a16="http://schemas.microsoft.com/office/drawing/2014/main" id="{AD6C69D3-87D8-E48A-8C2A-1FC17AD34CC5}"/>
              </a:ext>
            </a:extLst>
          </p:cNvPr>
          <p:cNvSpPr/>
          <p:nvPr/>
        </p:nvSpPr>
        <p:spPr>
          <a:xfrm>
            <a:off x="4345128" y="2692649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100" dirty="0"/>
          </a:p>
        </p:txBody>
      </p:sp>
      <p:sp>
        <p:nvSpPr>
          <p:cNvPr id="65" name="Shape 16">
            <a:extLst>
              <a:ext uri="{FF2B5EF4-FFF2-40B4-BE49-F238E27FC236}">
                <a16:creationId xmlns:a16="http://schemas.microsoft.com/office/drawing/2014/main" id="{69016E0C-D6B6-AF94-84E2-51E384C7D841}"/>
              </a:ext>
            </a:extLst>
          </p:cNvPr>
          <p:cNvSpPr/>
          <p:nvPr/>
        </p:nvSpPr>
        <p:spPr>
          <a:xfrm>
            <a:off x="2878637" y="1965960"/>
            <a:ext cx="1239012" cy="1234440"/>
          </a:xfrm>
          <a:prstGeom prst="roundRect">
            <a:avLst>
              <a:gd name="adj" fmla="val 5926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67" name="Shape 17">
            <a:extLst>
              <a:ext uri="{FF2B5EF4-FFF2-40B4-BE49-F238E27FC236}">
                <a16:creationId xmlns:a16="http://schemas.microsoft.com/office/drawing/2014/main" id="{4A9AF557-DEFB-49CB-28BC-9FCDE0F29599}"/>
              </a:ext>
            </a:extLst>
          </p:cNvPr>
          <p:cNvSpPr/>
          <p:nvPr/>
        </p:nvSpPr>
        <p:spPr>
          <a:xfrm>
            <a:off x="3254507" y="2103120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69" name="Image 2" descr="/home/claude/icons/cogs_red.png">
            <a:extLst>
              <a:ext uri="{FF2B5EF4-FFF2-40B4-BE49-F238E27FC236}">
                <a16:creationId xmlns:a16="http://schemas.microsoft.com/office/drawing/2014/main" id="{6EA7F8D5-9D70-B4ED-BC49-2477CCC4848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77402" y="2226015"/>
            <a:ext cx="266273" cy="266273"/>
          </a:xfrm>
          <a:prstGeom prst="rect">
            <a:avLst/>
          </a:prstGeom>
        </p:spPr>
      </p:pic>
      <p:sp>
        <p:nvSpPr>
          <p:cNvPr id="71" name="Text 18">
            <a:extLst>
              <a:ext uri="{FF2B5EF4-FFF2-40B4-BE49-F238E27FC236}">
                <a16:creationId xmlns:a16="http://schemas.microsoft.com/office/drawing/2014/main" id="{B09A5AF1-3A1E-2957-94A4-A221542D2E58}"/>
              </a:ext>
            </a:extLst>
          </p:cNvPr>
          <p:cNvSpPr/>
          <p:nvPr/>
        </p:nvSpPr>
        <p:spPr>
          <a:xfrm>
            <a:off x="2344679" y="2624328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Chat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</a:t>
            </a:r>
            <a:endParaRPr lang="en-US" sz="1100" dirty="0"/>
          </a:p>
        </p:txBody>
      </p:sp>
      <p:sp>
        <p:nvSpPr>
          <p:cNvPr id="73" name="Text 19">
            <a:extLst>
              <a:ext uri="{FF2B5EF4-FFF2-40B4-BE49-F238E27FC236}">
                <a16:creationId xmlns:a16="http://schemas.microsoft.com/office/drawing/2014/main" id="{98F3B9C9-8C02-8ABD-F477-0922C9615C9A}"/>
              </a:ext>
            </a:extLst>
          </p:cNvPr>
          <p:cNvSpPr/>
          <p:nvPr/>
        </p:nvSpPr>
        <p:spPr>
          <a:xfrm>
            <a:off x="2344679" y="297180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workflow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7498080" y="365760"/>
            <a:ext cx="4233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Candidate Validation Platform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Actually Gets Validated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functional pipeline, from upload to AI-scored report — flow moves left to right, top to bottom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10" name="Image 0" descr="/home/claude/icons/upload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1671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34440" y="20574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Resume Intake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85800" y="265176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 uploads PDF/DOCX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extracts structured JSON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education, experience, skills, projects, LinkedIn URL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251960" y="18745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34840" y="2057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15" name="Image 1" descr="/home/claude/icons/link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4568" y="2167128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029200" y="20574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Identity &amp; Contact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480560" y="265176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profile scraped &amp; matched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Email: DNS/MX + disposable check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parsed to E.164 + region/type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8046720" y="18745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29600" y="2057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20" name="Image 2" descr="/home/claude/icons/building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28" y="2167128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823960" y="20574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Company &amp; ATS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275320" y="265176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 reachability, SSL &amp; DNS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 records verified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ATS lookup by ID, email or phone fallback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7200" y="402336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40080" y="4206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25" name="Image 3" descr="/home/claude/icons/gradcap_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4315968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234440" y="42062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Education, Exp &amp; Skills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685800" y="480060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Timeline, gaps &amp; overlaps detected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&amp; future-date checks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vs. project tech-stack alignment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4251960" y="402336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434840" y="4206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30" name="Image 4" descr="/home/claude/icons/fingerprint_r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4568" y="4315968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029200" y="42062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Fraud &amp; Genuineness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4480560" y="480060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Keyword-stuffing detection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AI-generated content markers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placeholders &amp; repeated phrases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8046720" y="402336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229600" y="4206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35" name="Image 5" descr="/home/claude/icons/brain_r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9328" y="4315968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8823960" y="42062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AI Scoring &amp; Report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8275320" y="480060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synthesizes all evidence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Score, risk level &amp; recommendation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+ interview questions</a:t>
            </a:r>
            <a:endParaRPr lang="en-US" sz="950" dirty="0"/>
          </a:p>
        </p:txBody>
      </p:sp>
      <p:sp>
        <p:nvSpPr>
          <p:cNvPr id="38" name="Text 30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Candidate Validation Platform  </a:t>
            </a:r>
            <a:endParaRPr lang="en-US" sz="900" dirty="0"/>
          </a:p>
        </p:txBody>
      </p:sp>
      <p:sp>
        <p:nvSpPr>
          <p:cNvPr id="39" name="Text 31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BDFBEF54-7CE4-6216-B4A2-F9E4D7B97097}"/>
              </a:ext>
            </a:extLst>
          </p:cNvPr>
          <p:cNvSpPr/>
          <p:nvPr/>
        </p:nvSpPr>
        <p:spPr>
          <a:xfrm>
            <a:off x="502920" y="502920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43" name="Image 0" descr="logo.png">
            <a:extLst>
              <a:ext uri="{FF2B5EF4-FFF2-40B4-BE49-F238E27FC236}">
                <a16:creationId xmlns:a16="http://schemas.microsoft.com/office/drawing/2014/main" id="{8BC693A3-AF9F-F41E-8F45-65F192B473E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594360"/>
            <a:ext cx="996696" cy="168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0" y="365760"/>
            <a:ext cx="4233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Candidate Validation Platform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Sample Output — Not a Mockup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generated report for candidate PIRUTHVIN M — Full-Stack Developer  |  Report v2.0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984248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52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02920" y="2532888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77440" y="18745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1984248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52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423160" y="2532888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97680" y="18745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0" y="1984248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52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343400" y="2532888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(low=good)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17920" y="18745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984248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52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263640" y="2532888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Cross-Val.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138160" y="18745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1984248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52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183880" y="2532888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18745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0" y="1984248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52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104120" y="2532888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Level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306324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F3D3CF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306324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52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REVIEW</a:t>
            </a:r>
            <a:r>
              <a:rPr lang="en-US" sz="115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cross-source inconsistencies found; experience data incomplete; fraud risk is low.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749040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388620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Findings the System Caught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85800" y="4297680"/>
            <a:ext cx="48920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ATS email/phone mismatch vs. resume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resume skills not present in ATS record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section missing — timeline checks skipped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certifications missing issuer information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could not be verified (0 score)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project technologies not listed in skills (Playwright, Jinja2)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63640" y="3749040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EAF2EC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388620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AI-Generated Bonus Output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92240" y="4297680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tailored technical interview questions from the candidate's real project stack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React, FastAPI, Azure Container Apps, Spring Boot, JWT &amp; Playwright all covered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question mapped to why it was asked (evidence trail)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+ recruiter notes auto-written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92240" y="56235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report: report-ZR_1_CAND-20260730182402.html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Candidate Validation Platform  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8" name="Shape 2">
            <a:extLst>
              <a:ext uri="{FF2B5EF4-FFF2-40B4-BE49-F238E27FC236}">
                <a16:creationId xmlns:a16="http://schemas.microsoft.com/office/drawing/2014/main" id="{51AECED5-2BCF-8FD2-88EA-6814C099AD93}"/>
              </a:ext>
            </a:extLst>
          </p:cNvPr>
          <p:cNvSpPr/>
          <p:nvPr/>
        </p:nvSpPr>
        <p:spPr>
          <a:xfrm>
            <a:off x="502920" y="502920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40" name="Image 0" descr="logo.png">
            <a:extLst>
              <a:ext uri="{FF2B5EF4-FFF2-40B4-BE49-F238E27FC236}">
                <a16:creationId xmlns:a16="http://schemas.microsoft.com/office/drawing/2014/main" id="{DB975892-A353-51CB-0AC8-C4DA3C96E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94360"/>
            <a:ext cx="996696" cy="1682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0" y="365760"/>
            <a:ext cx="4233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Candidate Validation Platform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Actually Works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concept — a fully working, evidence-based validation engine, live right now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4884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10" name="Image 0" descr="/home/claude/icons/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2254179"/>
            <a:ext cx="228234" cy="2282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34440" y="214884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Evidence, Not Guesswork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85800" y="2679192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score traces to a concrete check — DNS records, ATS mismatches, timeline gaps — not a black-box guess.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251960" y="196596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53128" y="214884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15" name="Image 1" descr="/home/claude/icons/layer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8467" y="2254179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029200" y="214884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Multi-Agent Design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4480560" y="2679192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Conversation, orchestration &amp; validation are separate agents — easy to extend without touching business logic.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8046720" y="196596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47888" y="214884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20" name="Image 2" descr="/home/claude/icons/robot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227" y="2254179"/>
            <a:ext cx="228234" cy="22823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823960" y="214884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Explains Itself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8275320" y="2679192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ship with reasoning, an executive summary, and recruiter notes — not just pass/fail.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7200" y="374904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58368" y="393192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25" name="Image 3" descr="/home/claude/icons/question_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707" y="4037259"/>
            <a:ext cx="228234" cy="22823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234440" y="393192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 Questions, Auto-Built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85800" y="4462272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project tech stacks are turned into ready-to-ask technical interview questions.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4251960" y="374904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453128" y="393192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30" name="Image 4" descr="/home/claude/icons/bolt_r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8467" y="4037259"/>
            <a:ext cx="228234" cy="22823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029200" y="393192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Minutes, Not Hours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4480560" y="4462272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13-module validation — resume, contact, company, ATS, fraud — completes in under 2 minutes.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8046720" y="374904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247888" y="393192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35" name="Image 5" descr="/home/claude/icons/lock_r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3227" y="4037259"/>
            <a:ext cx="228234" cy="22823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8823960" y="393192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by Default</a:t>
            </a:r>
            <a:endParaRPr lang="en-US" sz="1150" dirty="0"/>
          </a:p>
        </p:txBody>
      </p:sp>
      <p:sp>
        <p:nvSpPr>
          <p:cNvPr id="37" name="Text 29"/>
          <p:cNvSpPr/>
          <p:nvPr/>
        </p:nvSpPr>
        <p:spPr>
          <a:xfrm>
            <a:off x="8275320" y="4462272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live in Azure Blob behind SAS-secured, time-limited URLs — no public exposure, no leaks.</a:t>
            </a:r>
            <a:endParaRPr lang="en-US" sz="950" dirty="0"/>
          </a:p>
        </p:txBody>
      </p:sp>
      <p:sp>
        <p:nvSpPr>
          <p:cNvPr id="38" name="Shape 30"/>
          <p:cNvSpPr/>
          <p:nvPr/>
        </p:nvSpPr>
        <p:spPr>
          <a:xfrm>
            <a:off x="457200" y="5739161"/>
            <a:ext cx="11274552" cy="457200"/>
          </a:xfrm>
          <a:prstGeom prst="roundRect">
            <a:avLst>
              <a:gd name="adj" fmla="val 16000"/>
            </a:avLst>
          </a:prstGeom>
          <a:solidFill>
            <a:srgbClr val="1B1E24"/>
          </a:solidFill>
          <a:ln/>
        </p:spPr>
      </p:sp>
      <p:sp>
        <p:nvSpPr>
          <p:cNvPr id="39" name="Text 31"/>
          <p:cNvSpPr/>
          <p:nvPr/>
        </p:nvSpPr>
        <p:spPr>
          <a:xfrm>
            <a:off x="640080" y="5739161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Validation Modules   |   &lt;2 Min Turnaround   |   100% Evidence-Based Scoring   |   SAS-Secured Reports   |   3-Agent Architecture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Candidate Validation Platform  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43" name="Shape 2">
            <a:extLst>
              <a:ext uri="{FF2B5EF4-FFF2-40B4-BE49-F238E27FC236}">
                <a16:creationId xmlns:a16="http://schemas.microsoft.com/office/drawing/2014/main" id="{3CB5FA1C-67C9-A289-C577-9BC1D1E005B7}"/>
              </a:ext>
            </a:extLst>
          </p:cNvPr>
          <p:cNvSpPr/>
          <p:nvPr/>
        </p:nvSpPr>
        <p:spPr>
          <a:xfrm>
            <a:off x="502920" y="502920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45" name="Image 0" descr="logo.png">
            <a:extLst>
              <a:ext uri="{FF2B5EF4-FFF2-40B4-BE49-F238E27FC236}">
                <a16:creationId xmlns:a16="http://schemas.microsoft.com/office/drawing/2014/main" id="{6AAE17D2-E280-67CA-793D-04CA758011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594360"/>
            <a:ext cx="996696" cy="1682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365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0" y="365760"/>
            <a:ext cx="4233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Candidate Validation Platform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Stack, APIs &amp; Live Demo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1344168" cy="1051560"/>
          </a:xfrm>
          <a:prstGeom prst="roundRect">
            <a:avLst>
              <a:gd name="adj" fmla="val 6957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8116" y="198424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9" name="Image 0" descr="/home/claude/icons/react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677" y="2080809"/>
            <a:ext cx="209215" cy="2092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2423160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02920" y="2670048"/>
            <a:ext cx="12527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1901952" y="1874520"/>
            <a:ext cx="1344168" cy="1051560"/>
          </a:xfrm>
          <a:prstGeom prst="roundRect">
            <a:avLst>
              <a:gd name="adj" fmla="val 6957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72868" y="198424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14" name="Image 1" descr="/home/claude/icons/server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9429" y="2080809"/>
            <a:ext cx="209215" cy="20921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947672" y="2423160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947672" y="2670048"/>
            <a:ext cx="12527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3346704" y="1874520"/>
            <a:ext cx="1344168" cy="1051560"/>
          </a:xfrm>
          <a:prstGeom prst="roundRect">
            <a:avLst>
              <a:gd name="adj" fmla="val 6957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817620" y="198424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19" name="Image 2" descr="/home/claude/icons/python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4181" y="2080809"/>
            <a:ext cx="209215" cy="20921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392424" y="2423160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3392424" y="2670048"/>
            <a:ext cx="12527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</a:t>
            </a:r>
            <a:endParaRPr lang="en-US" sz="750" dirty="0"/>
          </a:p>
        </p:txBody>
      </p:sp>
      <p:sp>
        <p:nvSpPr>
          <p:cNvPr id="22" name="Shape 17"/>
          <p:cNvSpPr/>
          <p:nvPr/>
        </p:nvSpPr>
        <p:spPr>
          <a:xfrm>
            <a:off x="4791456" y="1874520"/>
            <a:ext cx="1344168" cy="1051560"/>
          </a:xfrm>
          <a:prstGeom prst="roundRect">
            <a:avLst>
              <a:gd name="adj" fmla="val 6957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262372" y="198424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24" name="Image 3" descr="/home/claude/icons/cloud_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8933" y="2080809"/>
            <a:ext cx="209215" cy="209215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837176" y="2423160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Blob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4837176" y="2670048"/>
            <a:ext cx="12527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Storage</a:t>
            </a:r>
            <a:endParaRPr lang="en-US" sz="750" dirty="0"/>
          </a:p>
        </p:txBody>
      </p:sp>
      <p:sp>
        <p:nvSpPr>
          <p:cNvPr id="27" name="Shape 21"/>
          <p:cNvSpPr/>
          <p:nvPr/>
        </p:nvSpPr>
        <p:spPr>
          <a:xfrm>
            <a:off x="6236208" y="1874520"/>
            <a:ext cx="1344168" cy="1051560"/>
          </a:xfrm>
          <a:prstGeom prst="roundRect">
            <a:avLst>
              <a:gd name="adj" fmla="val 6957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6707124" y="198424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29" name="Image 4" descr="/home/claude/icons/microsoft_r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3685" y="2080809"/>
            <a:ext cx="209215" cy="209215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281928" y="2423160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Zoho Recruit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6281928" y="2670048"/>
            <a:ext cx="12527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ATS Integration</a:t>
            </a:r>
            <a:endParaRPr lang="en-US" sz="750" dirty="0"/>
          </a:p>
        </p:txBody>
      </p:sp>
      <p:sp>
        <p:nvSpPr>
          <p:cNvPr id="32" name="Shape 25"/>
          <p:cNvSpPr/>
          <p:nvPr/>
        </p:nvSpPr>
        <p:spPr>
          <a:xfrm>
            <a:off x="7680960" y="1874520"/>
            <a:ext cx="1344168" cy="1051560"/>
          </a:xfrm>
          <a:prstGeom prst="roundRect">
            <a:avLst>
              <a:gd name="adj" fmla="val 6957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8151876" y="198424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34" name="Image 5" descr="/home/claude/icons/filealt_r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8437" y="2080809"/>
            <a:ext cx="209215" cy="209215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726680" y="2423160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7726680" y="2670048"/>
            <a:ext cx="12527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Docs</a:t>
            </a:r>
            <a:endParaRPr lang="en-US" sz="750" dirty="0"/>
          </a:p>
        </p:txBody>
      </p:sp>
      <p:sp>
        <p:nvSpPr>
          <p:cNvPr id="37" name="Shape 29"/>
          <p:cNvSpPr/>
          <p:nvPr/>
        </p:nvSpPr>
        <p:spPr>
          <a:xfrm>
            <a:off x="9125712" y="1874520"/>
            <a:ext cx="1344168" cy="1051560"/>
          </a:xfrm>
          <a:prstGeom prst="roundRect">
            <a:avLst>
              <a:gd name="adj" fmla="val 6957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9596628" y="198424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39" name="Image 6" descr="/home/claude/icons/lock_r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93189" y="2080809"/>
            <a:ext cx="209215" cy="209215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9171432" y="2423160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</a:t>
            </a:r>
            <a:endParaRPr lang="en-US" sz="900" dirty="0"/>
          </a:p>
        </p:txBody>
      </p:sp>
      <p:sp>
        <p:nvSpPr>
          <p:cNvPr id="41" name="Text 32"/>
          <p:cNvSpPr/>
          <p:nvPr/>
        </p:nvSpPr>
        <p:spPr>
          <a:xfrm>
            <a:off x="9171432" y="2670048"/>
            <a:ext cx="12527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750" dirty="0"/>
          </a:p>
        </p:txBody>
      </p:sp>
      <p:sp>
        <p:nvSpPr>
          <p:cNvPr id="42" name="Shape 33"/>
          <p:cNvSpPr/>
          <p:nvPr/>
        </p:nvSpPr>
        <p:spPr>
          <a:xfrm>
            <a:off x="10570464" y="1874520"/>
            <a:ext cx="1344168" cy="1051560"/>
          </a:xfrm>
          <a:prstGeom prst="roundRect">
            <a:avLst>
              <a:gd name="adj" fmla="val 6957"/>
            </a:avLst>
          </a:prstGeom>
          <a:solidFill>
            <a:srgbClr val="F5F6F8"/>
          </a:solidFill>
          <a:ln w="9525">
            <a:solidFill>
              <a:srgbClr val="E3E5E9"/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11041380" y="198424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CEBE9"/>
          </a:solidFill>
          <a:ln/>
        </p:spPr>
      </p:sp>
      <p:pic>
        <p:nvPicPr>
          <p:cNvPr id="44" name="Image 7" descr="/home/claude/icons/cloud_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37941" y="2080809"/>
            <a:ext cx="209215" cy="209215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10616184" y="2423160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900" dirty="0"/>
          </a:p>
        </p:txBody>
      </p:sp>
      <p:sp>
        <p:nvSpPr>
          <p:cNvPr id="46" name="Text 36"/>
          <p:cNvSpPr/>
          <p:nvPr/>
        </p:nvSpPr>
        <p:spPr>
          <a:xfrm>
            <a:off x="10616184" y="2670048"/>
            <a:ext cx="12527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750" dirty="0"/>
          </a:p>
        </p:txBody>
      </p:sp>
      <p:sp>
        <p:nvSpPr>
          <p:cNvPr id="49" name="Text 39"/>
          <p:cNvSpPr/>
          <p:nvPr/>
        </p:nvSpPr>
        <p:spPr>
          <a:xfrm>
            <a:off x="640080" y="2933847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/api/v1/resume/validate   ·   GET /api/v1/ats/candidates/{id}   ·   POST /api/v1/company/verify   ·   POST /api/v1/validation/execute   ·   POST /api/v1/report/generate</a:t>
            </a:r>
            <a:endParaRPr lang="en-US" sz="950" dirty="0"/>
          </a:p>
        </p:txBody>
      </p:sp>
      <p:sp>
        <p:nvSpPr>
          <p:cNvPr id="50" name="Shape 40"/>
          <p:cNvSpPr/>
          <p:nvPr/>
        </p:nvSpPr>
        <p:spPr>
          <a:xfrm>
            <a:off x="457200" y="3665367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FCEBE9"/>
          </a:solidFill>
          <a:ln/>
        </p:spPr>
      </p:sp>
      <p:sp>
        <p:nvSpPr>
          <p:cNvPr id="51" name="Shape 41"/>
          <p:cNvSpPr/>
          <p:nvPr/>
        </p:nvSpPr>
        <p:spPr>
          <a:xfrm>
            <a:off x="685800" y="3866535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52" name="Image 8" descr="/home/claude/icons/eye_r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5528" y="3976263"/>
            <a:ext cx="237744" cy="237744"/>
          </a:xfrm>
          <a:prstGeom prst="rect">
            <a:avLst/>
          </a:prstGeom>
        </p:spPr>
      </p:pic>
      <p:sp>
        <p:nvSpPr>
          <p:cNvPr id="53" name="Text 42"/>
          <p:cNvSpPr/>
          <p:nvPr/>
        </p:nvSpPr>
        <p:spPr>
          <a:xfrm>
            <a:off x="1280160" y="3866535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the Live Frontend</a:t>
            </a:r>
            <a:endParaRPr lang="en-US" sz="1300" dirty="0"/>
          </a:p>
        </p:txBody>
      </p:sp>
      <p:sp>
        <p:nvSpPr>
          <p:cNvPr id="54" name="Text 43"/>
          <p:cNvSpPr/>
          <p:nvPr/>
        </p:nvSpPr>
        <p:spPr>
          <a:xfrm>
            <a:off x="685800" y="4442607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527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1"/>
              </a:rPr>
              <a:t>candidatevalidationui26.z29.web.core.windows.net</a:t>
            </a:r>
            <a:endParaRPr lang="en-US" sz="1000" dirty="0"/>
          </a:p>
        </p:txBody>
      </p:sp>
      <p:sp>
        <p:nvSpPr>
          <p:cNvPr id="55" name="Text 44"/>
          <p:cNvSpPr/>
          <p:nvPr/>
        </p:nvSpPr>
        <p:spPr>
          <a:xfrm>
            <a:off x="685800" y="4762647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a resume and watch the multi-agent pipeline validate it end-to-end, live.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6263640" y="3665367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FCEBE9"/>
          </a:solidFill>
          <a:ln/>
        </p:spPr>
      </p:sp>
      <p:sp>
        <p:nvSpPr>
          <p:cNvPr id="57" name="Shape 46"/>
          <p:cNvSpPr/>
          <p:nvPr/>
        </p:nvSpPr>
        <p:spPr>
          <a:xfrm>
            <a:off x="6492240" y="3866535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58" name="Image 9" descr="/home/claude/icons/filealt_r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01968" y="3976263"/>
            <a:ext cx="237744" cy="237744"/>
          </a:xfrm>
          <a:prstGeom prst="rect">
            <a:avLst/>
          </a:prstGeom>
        </p:spPr>
      </p:pic>
      <p:sp>
        <p:nvSpPr>
          <p:cNvPr id="59" name="Text 47"/>
          <p:cNvSpPr/>
          <p:nvPr/>
        </p:nvSpPr>
        <p:spPr>
          <a:xfrm>
            <a:off x="7086600" y="3866535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a Real Sample Report</a:t>
            </a:r>
            <a:endParaRPr lang="en-US" sz="1300" dirty="0"/>
          </a:p>
        </p:txBody>
      </p:sp>
      <p:sp>
        <p:nvSpPr>
          <p:cNvPr id="60" name="Text 48"/>
          <p:cNvSpPr/>
          <p:nvPr/>
        </p:nvSpPr>
        <p:spPr>
          <a:xfrm>
            <a:off x="6492240" y="4442607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527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2"/>
              </a:rPr>
              <a:t>report-ZR_1_CAND-20260806074315.html</a:t>
            </a:r>
            <a:endParaRPr lang="en-US" sz="1000" dirty="0"/>
          </a:p>
        </p:txBody>
      </p:sp>
      <p:sp>
        <p:nvSpPr>
          <p:cNvPr id="61" name="Text 49"/>
          <p:cNvSpPr/>
          <p:nvPr/>
        </p:nvSpPr>
        <p:spPr>
          <a:xfrm>
            <a:off x="6492240" y="4762647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(Azure Blob, SAS-secured, time-limited access)</a:t>
            </a:r>
            <a:endParaRPr lang="en-US" sz="1000" dirty="0"/>
          </a:p>
        </p:txBody>
      </p:sp>
      <p:sp>
        <p:nvSpPr>
          <p:cNvPr id="62" name="Text 50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Candidate Validation Platform  </a:t>
            </a:r>
            <a:endParaRPr lang="en-US" sz="900" dirty="0"/>
          </a:p>
        </p:txBody>
      </p:sp>
      <p:sp>
        <p:nvSpPr>
          <p:cNvPr id="63" name="Text 51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19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65" name="Shape 2">
            <a:extLst>
              <a:ext uri="{FF2B5EF4-FFF2-40B4-BE49-F238E27FC236}">
                <a16:creationId xmlns:a16="http://schemas.microsoft.com/office/drawing/2014/main" id="{AF98FCF6-A4E1-ABE7-5650-F6AFA9E333D9}"/>
              </a:ext>
            </a:extLst>
          </p:cNvPr>
          <p:cNvSpPr/>
          <p:nvPr/>
        </p:nvSpPr>
        <p:spPr>
          <a:xfrm>
            <a:off x="502920" y="502920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67" name="Image 0" descr="logo.png">
            <a:extLst>
              <a:ext uri="{FF2B5EF4-FFF2-40B4-BE49-F238E27FC236}">
                <a16:creationId xmlns:a16="http://schemas.microsoft.com/office/drawing/2014/main" id="{5DE93E93-56CF-21D1-9C0F-0C0D8E1188A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1792" y="594360"/>
            <a:ext cx="996696" cy="168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1006</Words>
  <Application>Microsoft Office PowerPoint</Application>
  <PresentationFormat>Widescreen</PresentationFormat>
  <Paragraphs>187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PIRUTHVIN M</cp:lastModifiedBy>
  <cp:revision>4</cp:revision>
  <dcterms:created xsi:type="dcterms:W3CDTF">2026-07-30T19:46:43Z</dcterms:created>
  <dcterms:modified xsi:type="dcterms:W3CDTF">2026-08-06T08:29:32Z</dcterms:modified>
</cp:coreProperties>
</file>